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33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1833"/>
                </a:solidFill>
                <a:latin typeface="Cambria"/>
              </a:rPr>
              <a:t>Top 3 Most Popular Movies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Popularity score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54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Jurassic World</c:v>
                </c:pt>
                <c:pt idx="1">
                  <c:v>Captain America:
Civil War</c:v>
                </c:pt>
                <c:pt idx="2">
                  <c:v>Avatar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418</c:v>
                </c:pt>
                <c:pt idx="1">
                  <c:v>198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00-4009-9829-85A11863B0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0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9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33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1833"/>
                </a:solidFill>
                <a:latin typeface="Cambria"/>
              </a:rPr>
              <a:t>Top 3 Movies by Revenue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41833"/>
            </a:solidFill>
            <a:effectLst/>
          </c:spPr>
          <c:invertIfNegative val="0"/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54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Avatar</c:v>
                </c:pt>
                <c:pt idx="1">
                  <c:v>Titanic</c:v>
                </c:pt>
                <c:pt idx="2">
                  <c:v>The Avengers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2787965087</c:v>
                </c:pt>
                <c:pt idx="1">
                  <c:v>1845034188</c:v>
                </c:pt>
                <c:pt idx="2">
                  <c:v>1519557910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BA-4ABF-8A69-69ACE15E5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0D4"/>
              </a:solidFill>
              <a:prstDash val="solid"/>
              <a:round/>
            </a:ln>
          </c:spPr>
        </c:majorGridlines>
        <c:numFmt formatCode="\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9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833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41833"/>
                </a:solidFill>
                <a:latin typeface="Cambria"/>
              </a:rPr>
              <a:t>Most Movies Directed (3-way tie)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 directed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54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Gore Verbinski</c:v>
                </c:pt>
                <c:pt idx="1">
                  <c:v>Sam Raimi</c:v>
                </c:pt>
                <c:pt idx="2">
                  <c:v>Peter Jackson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A6-4291-A529-466CD47FD9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b"/>
        <c:majorGridlines>
          <c:spPr>
            <a:ln w="12700" cap="flat">
              <a:solidFill>
                <a:srgbClr val="E3E0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9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27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5543900"/>
            <a:ext cx="3862873" cy="1256600"/>
          </a:xfrm>
          <a:prstGeom prst="ellipse">
            <a:avLst/>
          </a:prstGeom>
          <a:solidFill>
            <a:srgbClr val="1F25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PORTFOLIO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IMDb Movies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 movies &amp; directors database to uncover popularity, revenue,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and director-performance insights using MySQL.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Karimulla   |   github.com/karimulla04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to analyze an IMDb-style relational database with SQL and answer 13 real business questions about movie popularity, ratings, revenue, and director performance — the kind of ad-hoc analysis a data analyst is asked for daily.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4068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21408" y="33375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21408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94176" y="33375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94176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Aggregation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66944" y="33375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66944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tables — movies and directors — joined on director_id, spanning 13 problem queries from basic filtering to grouped, ranked aggregation.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4572000" cy="4434840"/>
          </a:xfrm>
          <a:prstGeom prst="roundRect">
            <a:avLst>
              <a:gd name="adj" fmla="val 1649"/>
            </a:avLst>
          </a:prstGeom>
          <a:solidFill>
            <a:srgbClr val="141833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0664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06640" y="2532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analyzed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2,349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06640" y="3584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in the dataset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406640" y="4636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06640" y="5029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0664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SQL concepts applied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785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3785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female, 0/2 = male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3525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4352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unique 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919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4919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1691640"/>
            <a:ext cx="56235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0936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/ original_title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title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/ revenue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3218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(USD)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3785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3785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score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43525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vote_average / vote_count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0" y="43525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data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release_date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0" y="4919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5486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director_id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0" y="5486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directors.id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0" y="2194560"/>
            <a:ext cx="3200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0" y="5961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movies.director_id = directors.id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Techniques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Filtering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53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IN, LIKE for pattern-matched and conditional lookups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45152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4515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5152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953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+ LIMIT to surface top-N popular, bankable, and top-rated titles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38744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513064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1306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13064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13064" y="2953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and SUM() to size cohorts and total director revenue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1363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1755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to roll up movies per director before ranking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91363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45152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4515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45152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5152" y="51755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linking movies to directors on director_id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38744" y="391363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13064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513064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13064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Filtering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13064" y="51755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filters on release_date for period-based analysis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&amp; Ratings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1264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709160" cy="1965960"/>
          </a:xfrm>
          <a:prstGeom prst="roundRect">
            <a:avLst>
              <a:gd name="adj" fmla="val 3721"/>
            </a:avLst>
          </a:prstGeom>
          <a:solidFill>
            <a:srgbClr val="141833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22376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 SINCE 2000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23760" y="2057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223760" y="29992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 Rises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(released 2012-07-16)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3794760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23760" y="4023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Jurassic World's popularity score (418) is more than double the next-closest film — driven by its 2015 release riding the franchise-revival wave, while Avatar (2009) still holds top-3 popularity six years 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Bankability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1264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709160" cy="1965960"/>
          </a:xfrm>
          <a:prstGeom prst="roundRect">
            <a:avLst>
              <a:gd name="adj" fmla="val 3721"/>
            </a:avLst>
          </a:prstGeom>
          <a:solidFill>
            <a:srgbClr val="141833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22376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BANKABLE DIRECTOR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James Cameron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223760" y="2743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$4.63B total revenue across his movies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 (Avatar + Titanic)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3794760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23760" y="4023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budget alone tells a different story: Pirates of the Caribbean: On Stranger Tides ($380M) was the priciest production — yet it doesn't crack the revenue top 3. Budget ≠ bankability.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 &amp; Demographic Breakdown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1264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directors named James Cameron, Luc Besson and John Woo confirmed all three exist in the table — a straightforward IN() lookup used to validate data completeness before deeper joins.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949440" y="160020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178040" y="1709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78040" y="2258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directors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2,349 total (6.4%)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3172968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178040" y="3282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178040" y="3831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directors' names start with “S”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4133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via LIKE 's%'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0" y="4745736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178040" y="48554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Angelina Jolie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178040" y="5404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listed female director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78040" y="5705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by LIMIT 10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 Data Quality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00" cy="3931920"/>
          </a:xfrm>
          <a:prstGeom prst="roundRect">
            <a:avLst>
              <a:gd name="adj" fmla="val 1860"/>
            </a:avLst>
          </a:prstGeom>
          <a:solidFill>
            <a:srgbClr val="1F2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Query: Which movie(s) were directed by Brenda Chapman?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 Chapman exists in the </a:t>
            </a:r>
            <a:r>
              <a:rPr lang="en-US" sz="1350" dirty="0">
                <a:solidFill>
                  <a:srgbClr val="E8C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directors</a:t>
            </a:r>
            <a:r>
              <a:rPr lang="en-US" sz="13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 (id 4801), but joining her to </a:t>
            </a:r>
            <a:r>
              <a:rPr lang="en-US" sz="1350" dirty="0">
                <a:solidFill>
                  <a:srgbClr val="E8C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</a:t>
            </a:r>
            <a:r>
              <a:rPr lang="en-US" sz="13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director_id returned zero rows.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6576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63016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query logic was correct — confirmed on other directors first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279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director record genuinely has no linked movie row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9011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87375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it as a dataset limitation rather than fabricating a result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8704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and reporting missing or inconsistent data is as important as writing the query itself — a core data-analyst instinct.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82880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52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486900" y="233172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4869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412480" y="3520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412480" y="4297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returned for a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on record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Script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queries, commented and organized by 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892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40880" y="224028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reference, query catalog, and business-question index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401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37490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methodology, interpretation notes &amp; limitations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200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0D4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09360" y="3520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093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401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captured for every one of the 13 questions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54406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project on GitHub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5440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github.com/karimulla04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 SQL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723</Words>
  <Application>Microsoft Office PowerPoint</Application>
  <PresentationFormat>Widescreen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karim shaik</cp:lastModifiedBy>
  <cp:revision>2</cp:revision>
  <dcterms:created xsi:type="dcterms:W3CDTF">2026-08-28T06:53:29Z</dcterms:created>
  <dcterms:modified xsi:type="dcterms:W3CDTF">2026-08-28T07:02:16Z</dcterms:modified>
</cp:coreProperties>
</file>